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8" r:id="rId21"/>
    <p:sldId id="279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48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16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All results shown in this deck are generated from the course-provided ~200K news corpus and the submitted notebooks (01–06).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Rubric items and constraints come from instruction.md.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Row count and date range are measured in 01_data_audit.ipynb.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Heuristic flags and estimated filter impacts are computed in 01_data_audit.ipynb.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Counts come from 02_clean_filter.ipynb.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Raw vs clean token distribution and monthly volume overlay are produced in 02_clean_filter.ipynb.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Topic modeling and industry mapping are implemented in 03_topic_modeling.ipynb.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Industry exposure and composite impact scores are computed in 06_sentiment_inference.ipynb.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Entity extraction workflow and aggregations are implemented in 04_entity_extraction.ipynb and used in 06_sentiment_inference.ipynb.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Company frequency chart is produced in 06_sentiment_inference.ipynb.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Technology extraction and aggregations are implemented in 04_entity_extraction.ipynb and visualized in 06_sentiment_inference.ipynb.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Training pipeline, evaluation report, and confusion matrix are from 05_sentiment_model_train.ipynb.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Inference and aggregation are performed in 06_sentiment_inference.ipynb.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Industry sentiment scores and composition plots are computed from entity-context sentiment predictions in 06_sentiment_inference.ipynb.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Company sentiment rankings are produced in 06_sentiment_inference.ipynb.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Over-time trend plot is computed in 06_sentiment_inference.ipynb.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Adoption drivers (frequency + sentiment) are computed in 06_sentiment_inference.ipynb.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Driver splits and industry×driver heatmap are produced in 06_sentiment_inference.ipynb.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BEA1-EF6E-0404-682F-E9207D5A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12C0A-90A0-9707-0C78-42432670C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A89FE-BA71-7764-5544-2D7B38116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Driver splits and industry×driver heatmap are produced in 06_sentiment_inference.ipynb.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721A1-BD43-5487-ED3A-117AAC13D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36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90838-01EE-DF82-5167-1F7B6A20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D9131-9243-5F35-80D9-085F0357C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06B81-CD36-C0D6-E39F-2D61B053F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Driver splits and industry×driver heatmap are produced in 06_sentiment_inference.ipynb.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66DC5-FBD8-58B0-8248-83A10B302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692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3B79-C200-4A92-524F-52E5F99D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4C958-7388-F837-F39E-E3CF0FEAE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82654-2CC0-60A7-DE83-E14965F9F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Driver splits and industry×driver heatmap are produced in 06_sentiment_inference.ipynb.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2DD94-25D6-C9DB-75CC-C5FADFDE04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01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Limitations are based on observed artifacts in entity extraction and sentiment evaluation in notebooks 04–06.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1920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Impact Analysis Based on 200K AI/ML News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77470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Topic → Industry mapping · Entity extraction · Sentiment model (trained) · Over-time insights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7286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49959" y="4228564"/>
            <a:ext cx="101800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  <a:buSzPct val="100000"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business-facing insights answering 3 questions</a:t>
            </a:r>
            <a:r>
              <a:rPr lang="en-US" sz="1600" b="1" dirty="0"/>
              <a:t>	</a:t>
            </a:r>
            <a:endParaRPr lang="en-US" sz="16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3520" indent="-22352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&amp; companies are most likely to be impacted by AI in the future?</a:t>
            </a:r>
            <a:endParaRPr lang="en-US" sz="1600" dirty="0"/>
          </a:p>
          <a:p>
            <a:pPr marL="223520" indent="-22352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they be impacted (positive/negative/unclear) and by what means / technologies?</a:t>
            </a:r>
            <a:endParaRPr lang="en-US" sz="1600" dirty="0"/>
          </a:p>
          <a:p>
            <a:pPr marL="223520" indent="-22352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are associated with successful vs unsuccessful AI adoption?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5429518"/>
            <a:ext cx="10180015" cy="86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Zihao Huang (zihaoh3)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03/10/2026 (MM/DD/YYYY)</a:t>
            </a:r>
          </a:p>
          <a:p>
            <a:r>
              <a:rPr lang="en-US" sz="14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Instructor: Ignas Grabauskas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</a:t>
            </a: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B07802-5E54-0D63-4F44-726827A533E3}"/>
              </a:ext>
            </a:extLst>
          </p:cNvPr>
          <p:cNvSpPr txBox="1"/>
          <p:nvPr/>
        </p:nvSpPr>
        <p:spPr>
          <a:xfrm>
            <a:off x="1087120" y="1828800"/>
            <a:ext cx="99056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ADSP 32018 IP01 Next-Gen NLP: Transformers, LLMs and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AgenticAI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Practice</a:t>
            </a:r>
          </a:p>
          <a:p>
            <a:pPr algn="ctr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WINTER 2026 -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overview &amp; rubric alignment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448495" y="128016"/>
            <a:ext cx="219456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48495" y="1554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000760"/>
            <a:ext cx="1572768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0076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741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Clean/filter design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04288" y="134366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41448" y="1000760"/>
            <a:ext cx="157276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41448" y="100076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filter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41448" y="1741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clean-up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14216" y="134366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51376" y="1000760"/>
            <a:ext cx="1572768" cy="6858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51376" y="100076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51376" y="1741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detection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24144" y="134366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61304" y="1000760"/>
            <a:ext cx="1572768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61304" y="1002792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61304" y="1741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+ Tech entities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34072" y="134366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71232" y="1000760"/>
            <a:ext cx="1572768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71232" y="992632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sentiment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71232" y="1741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(required)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0" y="134366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281160" y="1000760"/>
            <a:ext cx="1572768" cy="68580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81160" y="982472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&amp; insights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81160" y="1741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+ viz + answers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2423160"/>
            <a:ext cx="10728655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96696" y="2329434"/>
            <a:ext cx="102714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components connect (why this is business-facing)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60120" y="3001517"/>
            <a:ext cx="10271455" cy="3582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Filtering focuses analysis on evidence-rich AI impact paragraphs (reduces web-crawl noise).</a:t>
            </a:r>
          </a:p>
          <a:p>
            <a:pPr marL="652780" lvl="1" indent="-19558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AI trigger patterns and extract evidence-rich paragraphs</a:t>
            </a:r>
          </a:p>
          <a:p>
            <a:pPr marL="652780" lvl="1" indent="-19558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each document using high-signal and supporting AI terms</a:t>
            </a:r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Topics are mapped into an industry taxonomy → scalable “who is impacted” view.</a:t>
            </a:r>
          </a:p>
          <a:p>
            <a:pPr marL="652780" lvl="1" indent="-19558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BERTopic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the prepared corpus</a:t>
            </a:r>
          </a:p>
          <a:p>
            <a:pPr marL="652780" lvl="1" indent="-19558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BERTopic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topics to an industry taxonomy</a:t>
            </a:r>
          </a:p>
          <a:p>
            <a:pPr marL="652780" lvl="1" indent="-19558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mapping is based on semantic similarity between topic embeddings and manually crafted industry anchor texts.</a:t>
            </a:r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Entities (companies + technologies) provide drill-down and the “by what means” lens.</a:t>
            </a:r>
          </a:p>
          <a:p>
            <a:pPr marL="652780" lvl="1" indent="-19558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-NER to extract Organization Entities</a:t>
            </a:r>
          </a:p>
          <a:p>
            <a:pPr marL="652780" lvl="1" indent="-19558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technology entities by Rule-Based Phrase Matching</a:t>
            </a:r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custom-trained sentiment model enables consistent labeling at scale (millions of contexts).</a:t>
            </a:r>
          </a:p>
          <a:p>
            <a:pPr marL="652780" lvl="1" indent="-19558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sentence-based context windows around organization mentions</a:t>
            </a:r>
          </a:p>
          <a:p>
            <a:pPr marL="652780" lvl="1" indent="-19558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weak labels with an LLM (GPT 5-nano)</a:t>
            </a:r>
          </a:p>
          <a:p>
            <a:pPr marL="652780" lvl="1" indent="-19558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 with Class-Weighted Loss</a:t>
            </a:r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Aggregations over (industry × company × technology × time) produce the final insights.</a:t>
            </a:r>
          </a:p>
          <a:p>
            <a:pPr marL="652780" lvl="1" indent="-19558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Inference the whole corpus and produce plots</a:t>
            </a:r>
          </a:p>
          <a:p>
            <a:pPr marL="652780" lvl="1" indent="-195580">
              <a:lnSpc>
                <a:spcPct val="110000"/>
              </a:lnSpc>
              <a:buSzPct val="100000"/>
              <a:buChar char="•"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</a:t>
            </a: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8201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(raw corpus)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62695" y="128016"/>
            <a:ext cx="288036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62695" y="15544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Data audit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822960"/>
            <a:ext cx="20116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932688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(raw)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170432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199,989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80360" y="822960"/>
            <a:ext cx="27432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81528" y="93268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81528" y="117043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2022-01 → 2026-02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06440" y="822960"/>
            <a:ext cx="5650992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07608" y="932688"/>
            <a:ext cx="5248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07608" y="1170432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· date · language · title · text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17830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Monthly article volume (raw)</a:t>
            </a:r>
            <a:endParaRPr lang="en-US" sz="2000" dirty="0"/>
          </a:p>
        </p:txBody>
      </p:sp>
      <p:pic>
        <p:nvPicPr>
          <p:cNvPr id="16" name="Image 0" descr="/mnt/data/extracted_images/01_data_audit_c024_o00_5f81c794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63334"/>
            <a:ext cx="5852160" cy="316768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29400" y="1727402"/>
            <a:ext cx="4846320" cy="931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Text length distribution (raw)</a:t>
            </a:r>
            <a:endParaRPr lang="en-US" sz="2000" dirty="0"/>
          </a:p>
        </p:txBody>
      </p:sp>
      <p:pic>
        <p:nvPicPr>
          <p:cNvPr id="18" name="Image 1" descr="/mnt/data/extracted_images/01_data_audit_c013_o00_f76e8a0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211" y="2841954"/>
            <a:ext cx="4994829" cy="29797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3/22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8163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Web-crawl noise: why filtering is necessary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62695" y="128016"/>
            <a:ext cx="288036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62695" y="15544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Data audit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7097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Heuristic flags on raw article text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/mnt/data/extracted_images/01_data_audit_c029_o00_22c601e4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04" y="1067620"/>
            <a:ext cx="6415696" cy="273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822960"/>
            <a:ext cx="470916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03720" y="106762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Observed artifacts (examples)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903720" y="1409700"/>
            <a:ext cx="4343400" cy="151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Boilerplate (privacy policy, subscribe banners, navigation menus)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Copy/paste link lists and “related stories” blocks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HTML / markup remnants and low alphabetic ratio noise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Extremely short or non-informative pages (image galleries, stubs)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03720" y="3002280"/>
            <a:ext cx="4343400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Data-driven filter impact (from audit)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903720" y="3464560"/>
            <a:ext cx="4343400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86600" y="3556000"/>
            <a:ext cx="39776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Drop boilerplate-heavy pages: ~2,063 rows (≈1.03%)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Deduplicate normalized text: ~511 rows (≈0.26%)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Drop short/low-info rows: ~29 rows (≈0.01%)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Audit suggests targeted rules can remove noise without shrinking corpus drastically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4/22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F8409F-4CB9-00C0-34A9-EE109FA06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04" y="3922990"/>
            <a:ext cx="6283180" cy="24879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clean-up &amp; filtering (what changed)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88375" y="128016"/>
            <a:ext cx="315468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88375" y="1554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Clean/filter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Goal: produce a reusable, high-signal AI impact corpus for downstream modeling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011680" cy="56692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21843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evidence</a:t>
            </a:r>
            <a:r>
              <a:rPr lang="zh-CN" altLang="en-US" sz="1200" dirty="0"/>
              <a:t> </a:t>
            </a: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517904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71800" y="1234440"/>
            <a:ext cx="2011680" cy="566928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71800" y="122936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83480" y="1517904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0" y="1234440"/>
            <a:ext cx="2011680" cy="56692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0" y="122936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1517904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52360" y="1244600"/>
            <a:ext cx="2011680" cy="56692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52360" y="122859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relevance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64040" y="1517904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92640" y="1234440"/>
            <a:ext cx="2011680" cy="566928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92640" y="12232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201168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 reductions (transparent counts)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2423160"/>
            <a:ext cx="283464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2688" y="2532888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AI-relevant (screen)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2770632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194,575 (97.29%)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703320" y="2423160"/>
            <a:ext cx="283464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04488" y="2532888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after quality filters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04488" y="2770632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189,943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675120" y="242316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76288" y="253288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76288" y="2770632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15,117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326880" y="2423160"/>
            <a:ext cx="2679192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528048" y="253288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corpus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28048" y="2770632"/>
            <a:ext cx="2276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174,826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04087" y="3309492"/>
            <a:ext cx="10728655" cy="32284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18" y="3370000"/>
            <a:ext cx="10271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this matters?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32686" y="3600632"/>
            <a:ext cx="10271455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Downstream modeling (topics/entities/sentiment) is done on the cleaned, evidence-rich text — not raw webpage artifacts.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Filtering is rule-driven and auditable (counts reported), rather than “black-box” removal.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clean corpus is exported as a reusable artifact for reproducibility.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5/22</a:t>
            </a:r>
            <a:endParaRPr 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CCFFF0-70AA-1CEA-152A-F988CA7BB381}"/>
              </a:ext>
            </a:extLst>
          </p:cNvPr>
          <p:cNvSpPr txBox="1"/>
          <p:nvPr/>
        </p:nvSpPr>
        <p:spPr>
          <a:xfrm>
            <a:off x="932686" y="4305356"/>
            <a:ext cx="610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did I filter the corpus?</a:t>
            </a: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A122E215-5814-8F74-C956-86CB2EF4CB8B}"/>
              </a:ext>
            </a:extLst>
          </p:cNvPr>
          <p:cNvSpPr/>
          <p:nvPr/>
        </p:nvSpPr>
        <p:spPr>
          <a:xfrm>
            <a:off x="932685" y="4542028"/>
            <a:ext cx="10271455" cy="2224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AI evidence paragraphs</a:t>
            </a:r>
          </a:p>
          <a:p>
            <a:pPr marL="652780" lvl="1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each article into paragraphs and kept only paragraphs containing explicit AI/ML trigger terms such as 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AI, machine learning, LLM, generative AI, ChatGPT,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52780" lvl="1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reduced webpage clutter and turned each article into a more focused, AI-centered text unit.</a:t>
            </a:r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light text cleaning</a:t>
            </a:r>
          </a:p>
          <a:p>
            <a:pPr marL="652780" lvl="1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lightly normalized titles and extracted text by removing HTML tags, URLs, repeated separators, and extra whitespace.</a:t>
            </a:r>
          </a:p>
          <a:p>
            <a:pPr marL="652780" lvl="1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cleaned text fields and basic diagnostics such as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count, token count, and alphabetic-character ratio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staged filtering and deduplicate</a:t>
            </a:r>
          </a:p>
          <a:p>
            <a:pPr marL="652780" lvl="1" indent="-195580">
              <a:lnSpc>
                <a:spcPct val="110000"/>
              </a:lnSpc>
              <a:buSzPct val="100000"/>
              <a:buChar char="•"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corpus sanity check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88375" y="128016"/>
            <a:ext cx="315468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88375" y="1554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Clean/filter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Token-length and time trends: cleaned corpus preserves global structure while reducing noise</a:t>
            </a:r>
            <a:endParaRPr lang="en-US" sz="1400" dirty="0"/>
          </a:p>
        </p:txBody>
      </p:sp>
      <p:pic>
        <p:nvPicPr>
          <p:cNvPr id="7" name="Image 0" descr="/mnt/data/extracted_images/02_clean_filter_c034_o00_3bbf03b7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816" y="1143000"/>
            <a:ext cx="8728064" cy="5349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6/22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detection → Industry taxonomy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51215" y="128016"/>
            <a:ext cx="329184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51215" y="155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Topic detection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BERTopic on cleaned corpus, then map topic clusters to business-friendly industries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3860" y="1234440"/>
            <a:ext cx="4968241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701" y="1565125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Modeling steps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894840"/>
            <a:ext cx="5074920" cy="19138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Prepare modeling text from evidence-rich paragraphs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Embed documents (sentence embeddings)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Cluster embeddings (HDBSCAN) + topic representation (c-TF-IDF)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Assign topic_id per document (incl. -1 outliers)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 topic→industry taxonomy for interpretation and aggregation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018354"/>
            <a:ext cx="5074920" cy="386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Outputs used downstream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342915"/>
            <a:ext cx="5074920" cy="1110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Document-level topic assignments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Industry-level prevalence (% share) and monthly volume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 tags joined with entity + sentiment results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516881" y="1234440"/>
            <a:ext cx="65989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1" y="1681165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output: industry shares + monthly volume</a:t>
            </a:r>
            <a:endParaRPr lang="en-US" sz="1400" dirty="0"/>
          </a:p>
        </p:txBody>
      </p:sp>
      <p:pic>
        <p:nvPicPr>
          <p:cNvPr id="14" name="Image 0" descr="/mnt/data/extracted_images/03_topic_modeling_c051_o00_53b7276a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621" y="2071525"/>
            <a:ext cx="6286498" cy="308975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Which industries are most likely to be impacted?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51215" y="128016"/>
            <a:ext cx="329184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51215" y="155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exposure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10728655" cy="2289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Proxy used here: “AI impact exposure” = volume of AI-related coverage mapped to each industry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heaviest AI-impact coverage concentrates in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Management, Arts/Media, Business &amp; Financial Operations, Healthcare Support, Legal, and Sales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that AI discussion is not limited to “tech-native” domains but is spreading into a broad set of knowledge and service occupations.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industries appear most frequently in the cleaned news corpus, meaning they are the places where firms, workers, and workflows are already being actively discussed in relation to AI 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mapping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BERTopic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clusters into a business-friendly industry taxonomy, the project converts fragmented article-level discussions into an interpretable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impact map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it easier to compare where AI attention is most concentrated.</a:t>
            </a:r>
          </a:p>
        </p:txBody>
      </p:sp>
      <p:pic>
        <p:nvPicPr>
          <p:cNvPr id="7" name="Image 0" descr="/mnt/data/extracted_images/06_sentiment_inference_c027_o00_051330c0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7" y="2991447"/>
            <a:ext cx="5715000" cy="3409353"/>
          </a:xfrm>
          <a:prstGeom prst="rect">
            <a:avLst/>
          </a:prstGeom>
        </p:spPr>
      </p:pic>
      <p:pic>
        <p:nvPicPr>
          <p:cNvPr id="8" name="Image 1" descr="/mnt/data/extracted_images/06_sentiment_inference_c033_o00_2027b4d4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3020802"/>
            <a:ext cx="5859272" cy="34257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unique-document exposure · Right: composite impact (volume-weighted)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(companies + technologies)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51215" y="128016"/>
            <a:ext cx="329184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51215" y="155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Entity extraction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Two-track extraction: pretrained NER for organizations + rule-based phrase matching for technologies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5778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Extraction &amp; normalization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1976120"/>
            <a:ext cx="5166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 NER: detect organization mentions (e.g., OpenAI, Microsoft, Nvidia)</a:t>
            </a:r>
          </a:p>
          <a:p>
            <a:pPr marL="638810" lvl="1" indent="-181610">
              <a:lnSpc>
                <a:spcPct val="11000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Leveraged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-NER to extract ORG entities</a:t>
            </a: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phrases: curated lexicon + phrase matcher (e.g., process automation, AI copilots)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Standardize variants and join back to document metadata (date, topic/industry)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Aggregate by industry/company/technology/time for insights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43205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entities are critical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4800600"/>
            <a:ext cx="5166360" cy="104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Topics explain “industry-level narrative”.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Entities provide the drill-down: “which companies” + “by what means”.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Entity-centered contexts become the unit for sentiment training + inference.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37960" y="1234440"/>
            <a:ext cx="565099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57416" y="1547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output: top companies in AI-related coverage</a:t>
            </a:r>
            <a:endParaRPr lang="en-US" sz="1200" dirty="0"/>
          </a:p>
        </p:txBody>
      </p:sp>
      <p:pic>
        <p:nvPicPr>
          <p:cNvPr id="14" name="Image 0" descr="/mnt/data/extracted_images/06_sentiment_inference_c042_o00_265b5887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135" y="1890548"/>
            <a:ext cx="5486400" cy="438246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Entity-level view: who is most discussed?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311335" y="128016"/>
            <a:ext cx="233172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11335" y="1554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companies/organizations in AI impact coverage (unique documents)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56880" y="1143000"/>
            <a:ext cx="4132072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155300" y="141732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notes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155300" y="2034540"/>
            <a:ext cx="38507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Counts reflect how often entities appear in AI impact contexts, not company size.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Some “entities” are publishers or generic terms (e.g., PRNewswire) → limitation to improve with stronger canonicalization.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 use entity-level sentiment (next slides) to distinguish “hyped” vs “criticized” coverage.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155300" y="4251960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later for: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155300" y="4526280"/>
            <a:ext cx="43708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Company-level sentiment profiles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 × company hotspots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Over-time sentiment trends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10/22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8AFD11-0146-6372-DE05-078F7BEA8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28" y="1717423"/>
            <a:ext cx="7533772" cy="37431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 what means?” Technology themes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99855" y="128016"/>
            <a:ext cx="274320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99855" y="155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AI “means” themes in the corpus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96000" y="1143000"/>
            <a:ext cx="609295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41084" y="1143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mix varies by industry (examples)</a:t>
            </a:r>
            <a:endParaRPr lang="en-US" sz="1200" dirty="0"/>
          </a:p>
        </p:txBody>
      </p:sp>
      <p:pic>
        <p:nvPicPr>
          <p:cNvPr id="10" name="Image 1" descr="/mnt/data/extracted_images/c083_top6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920" y="1417320"/>
            <a:ext cx="5445455" cy="51712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11/22</a:t>
            </a:r>
            <a:endParaRPr lang="en-US" sz="10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FCC8930-FE81-379B-B2D1-31AB5460FB1B}"/>
              </a:ext>
            </a:extLst>
          </p:cNvPr>
          <p:cNvSpPr/>
          <p:nvPr/>
        </p:nvSpPr>
        <p:spPr>
          <a:xfrm>
            <a:off x="274625" y="1097280"/>
            <a:ext cx="565099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8435BC-E23B-5149-B7A7-475EC1834C53}"/>
              </a:ext>
            </a:extLst>
          </p:cNvPr>
          <p:cNvSpPr txBox="1"/>
          <p:nvPr/>
        </p:nvSpPr>
        <p:spPr>
          <a:xfrm>
            <a:off x="548640" y="1199535"/>
            <a:ext cx="512064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Arts, Design, Entertainment, Sports, and Media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displacement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dominates, suggesting stronger concern about creative labor substitution.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also framed around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cost reduction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the labor-risk narrative is most visible.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and Financial Operations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mainly discussed as a tool for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 and predictive analytics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sector shows a strong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and productivity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narrative.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and Social Service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framed more around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support and risk mitigation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worker replacement.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Mentions of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innovation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 a service-improvement angle.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and Mathematical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lead, reflecting data-heavy AI use cases.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displacement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that labor and governance concerns are also important.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and Extraction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dominant themes are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gains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systems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impact here appears tied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operations and site automation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Instruction and Library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leads, suggesting interest in data-driven educational support.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also associated with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process automation, and cost reduction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sentiment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51215" y="128016"/>
            <a:ext cx="329184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51215" y="155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Sentiment training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Restriction: sentiment model is self-trained (fine-tuned)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8521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7260" y="1471295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supervision pipeline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7260" y="1888807"/>
            <a:ext cx="5440680" cy="2290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entity-centered context windows around organization mentions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 weak labels with an LLM (positive / neutral / negative / unclear)</a:t>
            </a:r>
          </a:p>
          <a:p>
            <a:pPr marL="742950" lvl="1" indent="-285750">
              <a:lnSpc>
                <a:spcPct val="11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GPT 5-nano, prompt:</a:t>
            </a:r>
          </a:p>
          <a:p>
            <a:pPr marL="638810" lvl="1" indent="-181610">
              <a:lnSpc>
                <a:spcPct val="110000"/>
              </a:lnSpc>
              <a:buSzPct val="100000"/>
              <a:buChar char="•"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endParaRPr lang="en-US" sz="1300" dirty="0">
              <a:solidFill>
                <a:srgbClr val="37415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endParaRPr lang="en-US" sz="1300" dirty="0">
              <a:solidFill>
                <a:srgbClr val="37415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endParaRPr lang="en-US" sz="1300" dirty="0">
              <a:solidFill>
                <a:srgbClr val="37415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endParaRPr lang="en-US" sz="1300" dirty="0">
              <a:solidFill>
                <a:srgbClr val="37415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endParaRPr lang="en-US" sz="1300" dirty="0">
              <a:solidFill>
                <a:srgbClr val="37415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endParaRPr lang="en-US" sz="1300" dirty="0">
              <a:solidFill>
                <a:srgbClr val="37415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Fine-tune roberta-base on the weakly labeled dataset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1610" indent="-18161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 on held-out set and inspect confusion matrix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4387786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metrics (10k examples)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16584" y="4748213"/>
            <a:ext cx="5261356" cy="169227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6242" y="4921679"/>
            <a:ext cx="5064760" cy="1297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0.804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positive: 0.874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neutral: 0.792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negative: 0.680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unclear: 0.146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“unclear” is rare and hardest to learn.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1234440"/>
            <a:ext cx="546811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13716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(validation)</a:t>
            </a:r>
            <a:endParaRPr lang="en-US" sz="1100" dirty="0"/>
          </a:p>
        </p:txBody>
      </p:sp>
      <p:pic>
        <p:nvPicPr>
          <p:cNvPr id="15" name="Image 0" descr="/mnt/data/extracted_images/05_sentiment_model_train_c036_o02_9e5dbf0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730" y="1600200"/>
            <a:ext cx="2674620" cy="21488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720840" y="3977640"/>
            <a:ext cx="546811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03720" y="41148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length distribution (label pool)</a:t>
            </a:r>
            <a:endParaRPr lang="en-US" sz="1100" dirty="0"/>
          </a:p>
        </p:txBody>
      </p:sp>
      <p:pic>
        <p:nvPicPr>
          <p:cNvPr id="18" name="Image 1" descr="/mnt/data/extracted_images/05_sentiment_model_train_c010_o00_0b64f5ba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397" y="4343400"/>
            <a:ext cx="3441287" cy="21488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12/22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49A0743-64EF-D96B-B2BD-292734463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33" y="2420525"/>
            <a:ext cx="6953457" cy="13986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inference at scale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99855" y="128016"/>
            <a:ext cx="274320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99855" y="155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Inference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fine-tuned model to all entity-centered contexts, then aggregate by industry/company/tech/time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237744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298448"/>
            <a:ext cx="19751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contexts labeled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536192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2,685,784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40233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47288" y="1298448"/>
            <a:ext cx="3621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47288" y="1463367"/>
            <a:ext cx="491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· neutral · negative · unclear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52360" y="1188720"/>
            <a:ext cx="4736592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53528" y="1298448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53528" y="1485392"/>
            <a:ext cx="4334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P(pos) − P(neg)  ∈ [-1, 1]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2057400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 (counts)</a:t>
            </a:r>
            <a:endParaRPr lang="en-US" sz="1400" dirty="0"/>
          </a:p>
        </p:txBody>
      </p:sp>
      <p:pic>
        <p:nvPicPr>
          <p:cNvPr id="17" name="Image 0" descr="/mnt/data/extracted_images/06_sentiment_inference_c014_o00_889bb3a4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6" y="2331720"/>
            <a:ext cx="5682987" cy="42519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37960" y="2057400"/>
            <a:ext cx="5650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</a:t>
            </a:r>
            <a:endParaRPr lang="en-US" sz="1400" dirty="0"/>
          </a:p>
        </p:txBody>
      </p:sp>
      <p:pic>
        <p:nvPicPr>
          <p:cNvPr id="19" name="Image 1" descr="/mnt/data/extracted_images/06_sentiment_inference_c015_o00_beb6d7b5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15837"/>
            <a:ext cx="5650992" cy="368372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(topic/industry-level): positive vs negative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51215" y="128016"/>
            <a:ext cx="329184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51215" y="155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sentiment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19" y="1059179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sentiment score by industry (higher = more positive framing)</a:t>
            </a:r>
            <a:endParaRPr lang="en-US" sz="1400" dirty="0"/>
          </a:p>
        </p:txBody>
      </p:sp>
      <p:pic>
        <p:nvPicPr>
          <p:cNvPr id="7" name="Image 0" descr="/mnt/data/extracted_images/06_sentiment_inference_c052_o00_39cb404a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6" y="1714160"/>
            <a:ext cx="5715000" cy="34093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37960" y="1143000"/>
            <a:ext cx="565099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57416" y="1417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composition (selected industries)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14/22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53797B-3080-E149-E9EB-EA1F7C6633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34" b="65185"/>
          <a:stretch>
            <a:fillRect/>
          </a:stretch>
        </p:blipFill>
        <p:spPr>
          <a:xfrm>
            <a:off x="6662615" y="1729741"/>
            <a:ext cx="5254760" cy="32534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EBAAFD-8E3D-D019-AD01-0DF617D405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815" r="141" b="17026"/>
          <a:stretch>
            <a:fillRect/>
          </a:stretch>
        </p:blipFill>
        <p:spPr>
          <a:xfrm>
            <a:off x="6662615" y="4998043"/>
            <a:ext cx="5185967" cy="1471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Entity-level sentiment: companies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51215" y="128016"/>
            <a:ext cx="329184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51215" y="155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sentiment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sentiment is computed by averaging sentiment scores across entity-centered contexts (min contexts ≥ 20)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57150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1477037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positively framed (examples)</a:t>
            </a:r>
            <a:endParaRPr lang="en-US" sz="1100" dirty="0"/>
          </a:p>
        </p:txBody>
      </p:sp>
      <p:pic>
        <p:nvPicPr>
          <p:cNvPr id="9" name="Image 0" descr="/mnt/data/extracted_images/06_sentiment_inference_c056_o00_03d81fac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63549"/>
            <a:ext cx="5532120" cy="44189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37960" y="1143000"/>
            <a:ext cx="565099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89547" y="148378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negatively framed (examples)</a:t>
            </a:r>
            <a:endParaRPr lang="en-US" sz="1100" dirty="0"/>
          </a:p>
        </p:txBody>
      </p:sp>
      <p:pic>
        <p:nvPicPr>
          <p:cNvPr id="12" name="Image 1" descr="/mnt/data/extracted_images/06_sentiment_inference_c059_o00_7f30f162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1800071"/>
            <a:ext cx="5416227" cy="43264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2972" y="6182533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entity canonicalization is imperfect (some names are publishers/generic nouns).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over time: net sentiment trend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311335" y="128016"/>
            <a:ext cx="2331720" cy="292608"/>
          </a:xfrm>
          <a:prstGeom prst="round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11335" y="1554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sentiment = positive rate − negative rate (by month, by industry)</a:t>
            </a:r>
            <a:endParaRPr lang="en-US" sz="1400" dirty="0"/>
          </a:p>
        </p:txBody>
      </p:sp>
      <p:pic>
        <p:nvPicPr>
          <p:cNvPr id="7" name="Image 0" descr="/mnt/data/extracted_images/06_sentiment_inference_c069_o00_d090873b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6315"/>
            <a:ext cx="10728655" cy="425396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5711952"/>
            <a:ext cx="1072865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19" y="5780532"/>
            <a:ext cx="10271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compare trend direction (momentum) vs baseline level; spikes often align with major product/regulation news cycles.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What drives successful vs unsuccessful adoption?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51215" y="128016"/>
            <a:ext cx="329184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51215" y="155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drivers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treat “adoption driver” as a technology/means theme associated with adoption contexts and analyze volume + sentiment</a:t>
            </a:r>
            <a:endParaRPr lang="en-US" sz="1400" dirty="0"/>
          </a:p>
        </p:txBody>
      </p:sp>
      <p:pic>
        <p:nvPicPr>
          <p:cNvPr id="7" name="Image 0" descr="/mnt/data/extracted_images/06_sentiment_inference_c098_o00_cf2f8223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46467"/>
            <a:ext cx="5715000" cy="4565066"/>
          </a:xfrm>
          <a:prstGeom prst="rect">
            <a:avLst/>
          </a:prstGeom>
        </p:spPr>
      </p:pic>
      <p:pic>
        <p:nvPicPr>
          <p:cNvPr id="8" name="Image 1" descr="/mnt/data/extracted_images/06_sentiment_inference_c107_o00_351b6e52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172032"/>
            <a:ext cx="5650992" cy="451393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1520" y="5806440"/>
            <a:ext cx="1072865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60120" y="6007608"/>
            <a:ext cx="1828800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057400" y="5879592"/>
            <a:ext cx="10104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drivers are mostly positive (innovation, productivity, decision support). Risk-heavy drivers (privacy/security, fairness, governance) reduce sentiment; “job displacement” is the only strongly negative driver.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drivers: what differs in negative contexts?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51215" y="128016"/>
            <a:ext cx="329184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51215" y="155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× Industry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drivers in positive vs negative adoption contexts; then view industry × driver co-occurrence</a:t>
            </a:r>
            <a:endParaRPr lang="en-US" sz="1400" dirty="0"/>
          </a:p>
        </p:txBody>
      </p:sp>
      <p:pic>
        <p:nvPicPr>
          <p:cNvPr id="7" name="Image 0" descr="/mnt/data/extracted_images/06_sentiment_inference_c103_o00_81bbb003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77" y="2192334"/>
            <a:ext cx="6265963" cy="3092643"/>
          </a:xfrm>
          <a:prstGeom prst="rect">
            <a:avLst/>
          </a:prstGeom>
        </p:spPr>
      </p:pic>
      <p:pic>
        <p:nvPicPr>
          <p:cNvPr id="8" name="Image 1" descr="/mnt/data/extracted_images/06_sentiment_inference_c105_o00_e96e86bb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92334"/>
            <a:ext cx="5605272" cy="33420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ACE35-69EC-7CD8-438E-62B4F0DA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39C300-5809-3479-1A8A-22CC863B7E72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5509BC-D09F-441B-F286-1FB088E8DE85}"/>
              </a:ext>
            </a:extLst>
          </p:cNvPr>
          <p:cNvSpPr/>
          <p:nvPr/>
        </p:nvSpPr>
        <p:spPr>
          <a:xfrm>
            <a:off x="548945" y="6858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Wrap-up: Q1.</a:t>
            </a:r>
            <a:r>
              <a:rPr lang="zh-CN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are most likely to be impacted by AI?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E74E30-D131-DE52-7862-D518FE59D67F}"/>
              </a:ext>
            </a:extLst>
          </p:cNvPr>
          <p:cNvSpPr/>
          <p:nvPr/>
        </p:nvSpPr>
        <p:spPr>
          <a:xfrm>
            <a:off x="8351215" y="128016"/>
            <a:ext cx="3291840" cy="292608"/>
          </a:xfrm>
          <a:prstGeom prst="roundRect">
            <a:avLst/>
          </a:prstGeom>
          <a:solidFill>
            <a:schemeClr val="accent2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71E03F-8A16-A3C7-42A6-3C77EDA75338}"/>
              </a:ext>
            </a:extLst>
          </p:cNvPr>
          <p:cNvSpPr/>
          <p:nvPr/>
        </p:nvSpPr>
        <p:spPr>
          <a:xfrm>
            <a:off x="8351215" y="155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>Most exposed industries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0293329-3E35-9042-01B4-33B5997ED7FE}"/>
              </a:ext>
            </a:extLst>
          </p:cNvPr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19/22</a:t>
            </a:r>
            <a:endParaRPr lang="en-US" sz="10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ACC5873-06A1-8C2B-E5DF-4D2DDE49AAAF}"/>
              </a:ext>
            </a:extLst>
          </p:cNvPr>
          <p:cNvSpPr/>
          <p:nvPr/>
        </p:nvSpPr>
        <p:spPr>
          <a:xfrm>
            <a:off x="548945" y="822960"/>
            <a:ext cx="5069535" cy="5221224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0CFF5C-7FD0-198D-8C0E-B063E362B476}"/>
              </a:ext>
            </a:extLst>
          </p:cNvPr>
          <p:cNvSpPr txBox="1"/>
          <p:nvPr/>
        </p:nvSpPr>
        <p:spPr>
          <a:xfrm>
            <a:off x="650240" y="1239520"/>
            <a:ext cx="4968240" cy="4191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Management, Arts/Media, Business &amp; Financial Operations, Healthcare Support, Legal, and Sales have the highest exposure.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These are the sectors most frequently discussed in AI-impact news, especially in information-heavy and service-oriented work.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Topic→industry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mapping turns article-level topics into an interpretable industry impact map.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exposure highlights where workflow redesign, labor implications, and competitive pressure are most visible.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7E0BDED2-CC80-8E49-4E11-5F62E94B5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775" y="920496"/>
            <a:ext cx="6293879" cy="27777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EC8C38-1B66-F350-BA2C-4EA1C818A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255" y="3799697"/>
            <a:ext cx="4968240" cy="296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86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F112-FA5A-315A-C916-9219AAE9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38A8B8-0E35-AADE-B807-027783124124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695B79-D268-3A6E-E52A-7EDCFA7EFFF1}"/>
              </a:ext>
            </a:extLst>
          </p:cNvPr>
          <p:cNvSpPr/>
          <p:nvPr/>
        </p:nvSpPr>
        <p:spPr>
          <a:xfrm>
            <a:off x="548945" y="6858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Wrap-up: Q2.</a:t>
            </a:r>
            <a:r>
              <a:rPr lang="zh-CN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impact on those industries and companies mostly positive or negative?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515B6DE-0A25-A2AC-ED8D-87D83AA990DF}"/>
              </a:ext>
            </a:extLst>
          </p:cNvPr>
          <p:cNvSpPr/>
          <p:nvPr/>
        </p:nvSpPr>
        <p:spPr>
          <a:xfrm>
            <a:off x="8554415" y="441960"/>
            <a:ext cx="329184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EDDD9A-F368-F956-E8CF-64460631AAEB}"/>
              </a:ext>
            </a:extLst>
          </p:cNvPr>
          <p:cNvSpPr/>
          <p:nvPr/>
        </p:nvSpPr>
        <p:spPr>
          <a:xfrm>
            <a:off x="8554415" y="4693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>Most exposed industries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6366815-A892-1EA3-2968-BF682FAD0CF3}"/>
              </a:ext>
            </a:extLst>
          </p:cNvPr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20/22</a:t>
            </a:r>
            <a:endParaRPr lang="en-US" sz="10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E2D730-D3ED-A370-F159-614B08BE3366}"/>
              </a:ext>
            </a:extLst>
          </p:cNvPr>
          <p:cNvSpPr/>
          <p:nvPr/>
        </p:nvSpPr>
        <p:spPr>
          <a:xfrm>
            <a:off x="548945" y="822960"/>
            <a:ext cx="5069535" cy="5221224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1B80EC-A9B4-1461-48B6-B949527521FA}"/>
              </a:ext>
            </a:extLst>
          </p:cNvPr>
          <p:cNvSpPr txBox="1"/>
          <p:nvPr/>
        </p:nvSpPr>
        <p:spPr>
          <a:xfrm>
            <a:off x="721360" y="1016000"/>
            <a:ext cx="48971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AI’s impact on those industries and companies: mostly positive or negative?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mostly mixed, with a slight positive tilt in some industries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clearly not uniformly positive.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Industry-level sentiment is mixed rather than one-directional.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monthly net sentiment lines stay above zero for several industries much of the time, but the levels vary a lot across sectors and months.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industries are consistently more positive.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&amp; Financial Operations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Care &amp; Service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relatively high and stable net sentiment, suggesting AI is often framed there in terms of efficiency, service improvement, or business value.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 are more volatile or closer to neutral.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Support, Management, Sales,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especially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fluctuate much more, indicating that AI coverage in these sectors includes both optimism and concern.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Company-level sentiment is highly dispersed within each industry.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scatterplot shows organizations spread across the full range from negative to positive, which means firms in the same industry are not experiencing AI in the same way.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execution matters as much as industry.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gives the overall context, but company-level outcomes depend on how AI is adopted, governed, and integrated into workflows.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overall conclusion is: AI impact is neither mostly positive nor mostly negative.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positive narratives around productivity and innovation, but also negative or uncertain narratives around displacement, risk, and implementation challenges.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4107FF-C4AE-C4F1-AF29-CC11B142D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775" y="853440"/>
            <a:ext cx="6405967" cy="25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9D9FD7-9C3F-D74C-71F3-AF1ABB67AB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9"/>
          <a:stretch>
            <a:fillRect/>
          </a:stretch>
        </p:blipFill>
        <p:spPr>
          <a:xfrm>
            <a:off x="5902655" y="3464561"/>
            <a:ext cx="5303520" cy="336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02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6784-BABA-3852-81FE-F067B194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E90F9D-2B7C-E5FE-79C4-A3C5B15F795A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7C07A5-F1A0-3348-AA0A-959F876049FF}"/>
              </a:ext>
            </a:extLst>
          </p:cNvPr>
          <p:cNvSpPr/>
          <p:nvPr/>
        </p:nvSpPr>
        <p:spPr>
          <a:xfrm>
            <a:off x="548945" y="6858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Wrap-up: Q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what means and technologies is AI creating impact?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626B4C-188C-B016-1A43-424000200D08}"/>
              </a:ext>
            </a:extLst>
          </p:cNvPr>
          <p:cNvSpPr/>
          <p:nvPr/>
        </p:nvSpPr>
        <p:spPr>
          <a:xfrm>
            <a:off x="8554415" y="4693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>Most exposed industries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7BFC997-8FE1-752C-D53A-1B2B9204DFB5}"/>
              </a:ext>
            </a:extLst>
          </p:cNvPr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21/22</a:t>
            </a:r>
            <a:endParaRPr lang="en-US" sz="10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4F441B6-B339-D4B0-EAA2-A2301F208FB7}"/>
              </a:ext>
            </a:extLst>
          </p:cNvPr>
          <p:cNvSpPr/>
          <p:nvPr/>
        </p:nvSpPr>
        <p:spPr>
          <a:xfrm>
            <a:off x="548945" y="822960"/>
            <a:ext cx="5069535" cy="5221224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4CF71-6CA1-780B-AC76-BDD554E77DCF}"/>
              </a:ext>
            </a:extLst>
          </p:cNvPr>
          <p:cNvSpPr txBox="1"/>
          <p:nvPr/>
        </p:nvSpPr>
        <p:spPr>
          <a:xfrm>
            <a:off x="721360" y="1016000"/>
            <a:ext cx="4897120" cy="3852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most common mechanisms are predictive analytics, operational efficiency, automation, productivity gains, and autonomous systems.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dominant mechanism depends on the industry: job displacement is salient in Arts/Media, while efficiency and analytics dominate Business, Education, and Healthcare-related fields.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is changing work through both task automation and process redesign—not through a single universal pathway.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 adoption is more likely when AI is tied to clear use cases, operational fit, and measurable value.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E27CB19-8C98-F345-2F9D-D5D5C7CB33AC}"/>
              </a:ext>
            </a:extLst>
          </p:cNvPr>
          <p:cNvSpPr/>
          <p:nvPr/>
        </p:nvSpPr>
        <p:spPr>
          <a:xfrm>
            <a:off x="8772855" y="114300"/>
            <a:ext cx="3246120" cy="3657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Mechanisms of AI impact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3C459A88-CC3B-92B1-5B8E-0BEEDB2FE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351" y="822960"/>
            <a:ext cx="5084064" cy="482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64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Wrap-up: answers + limitations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74175" y="128016"/>
            <a:ext cx="2468880" cy="292608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74175" y="1554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728655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Who is impacted?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755648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High-exposure industries: Management, Arts/Media, Business &amp; Finance, Healthcare Support, Legal, Sales.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discussed entities include major AI/platform players (OpenAI, Google, Microsoft, Nvidia), plus industry-specific actors.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697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How and by what means?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990088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sentiment is mostly positive/neutral; negative share is higher in Legal and job-displacement contexts.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means: operational efficiency, predictive analytics, process automation, productivity gains, AI copilots.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1463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What helps/hurts adoption?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1755648"/>
            <a:ext cx="46936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narrative: innovation/new business models, productivity, decision support, better customer experience.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narrative: privacy/security, bias/fairness/trust, governance/compliance, integration barriers.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937760"/>
            <a:ext cx="10728655" cy="1691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507492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5413248"/>
            <a:ext cx="11201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canonicalization: merge publisher/generic terms; strengthen org linking (aliases, KB).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outliers (-1): refine clustering hyperparameters and/or increase representation quality.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labels: spot-check a human-labeled subset for calibration; improve “unclear” class via targeted sampling.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interpretation: news sentiment is perception, not ground truth impact (use as leading indicator).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094415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3266</Words>
  <Application>Microsoft Macintosh PowerPoint</Application>
  <PresentationFormat>Widescreen</PresentationFormat>
  <Paragraphs>345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UChicago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final-project-slides</dc:title>
  <dc:subject/>
  <dc:creator>Zihao Huang</dc:creator>
  <cp:keywords/>
  <dc:description/>
  <cp:lastModifiedBy>Zihao Huang</cp:lastModifiedBy>
  <cp:revision>68</cp:revision>
  <dcterms:created xsi:type="dcterms:W3CDTF">2026-03-01T09:24:48Z</dcterms:created>
  <dcterms:modified xsi:type="dcterms:W3CDTF">2026-03-09T22:02:32Z</dcterms:modified>
  <cp:category/>
</cp:coreProperties>
</file>